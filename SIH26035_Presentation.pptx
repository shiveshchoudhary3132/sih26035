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8712B"/>
                </a:solidFill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Problem Statement ID </a:t>
            </a:r>
            <a:r>
              <a:rPr sz="1800">
                <a:solidFill>
                  <a:srgbClr val="000000"/>
                </a:solidFill>
              </a:rPr>
              <a:t>- </a:t>
            </a:r>
            <a:r>
              <a:rPr sz="1800" b="1">
                <a:solidFill>
                  <a:srgbClr val="E8712B"/>
                </a:solidFill>
              </a:rPr>
              <a:t>SIH26035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0000"/>
                </a:solidFill>
              </a:rPr>
              <a:t>Problem Statement Title- </a:t>
            </a:r>
            <a:r>
              <a:rPr sz="1600" b="0">
                <a:solidFill>
                  <a:srgbClr val="E8712B"/>
                </a:solidFill>
              </a:rPr>
              <a:t>Development of a Software Program/Application for Generation of Test Reports for Non-Automatic Weighing Instruments (NAWI) as per OIML Recommendation R-76.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00000"/>
                </a:solidFill>
              </a:rPr>
              <a:t>Theme- </a:t>
            </a:r>
            <a:r>
              <a:rPr sz="1800">
                <a:solidFill>
                  <a:srgbClr val="E8712B"/>
                </a:solidFill>
              </a:rPr>
              <a:t>Smart Automation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</a:rPr>
              <a:t>PS Category- </a:t>
            </a:r>
            <a:r>
              <a:rPr sz="1800">
                <a:solidFill>
                  <a:srgbClr val="E8712B"/>
                </a:solidFill>
              </a:rPr>
              <a:t>Software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</a:rPr>
              <a:t>Organization- </a:t>
            </a:r>
            <a:r>
              <a:rPr sz="1800">
                <a:solidFill>
                  <a:srgbClr val="E8712B"/>
                </a:solidFill>
              </a:rPr>
              <a:t>Department of Consumer Affairs, Ministry of Consumer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333333"/>
                </a:solidFill>
              </a:rPr>
              <a:t>1.  </a:t>
            </a:r>
            <a:r>
              <a:rPr sz="1400" b="1">
                <a:solidFill>
                  <a:srgbClr val="333333"/>
                </a:solidFill>
              </a:rPr>
              <a:t>Instrument Data Capture: </a:t>
            </a:r>
            <a:r>
              <a:rPr sz="1300" b="0">
                <a:solidFill>
                  <a:srgbClr val="333333"/>
                </a:solidFill>
              </a:rPr>
              <a:t>Structured digital forms to record manufacturer details, model number, serial number, accuracy class, and all metrological parameters.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333333"/>
                </a:solidFill>
              </a:rPr>
              <a:t>2.  </a:t>
            </a:r>
            <a:r>
              <a:rPr sz="1400" b="1">
                <a:solidFill>
                  <a:srgbClr val="333333"/>
                </a:solidFill>
              </a:rPr>
              <a:t>Environmental Logging: </a:t>
            </a:r>
            <a:r>
              <a:rPr sz="1300" b="0">
                <a:solidFill>
                  <a:srgbClr val="333333"/>
                </a:solidFill>
              </a:rPr>
              <a:t>Records temperature, humidity, and atmospheric pressure for each test session as required by OIML R-76.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333333"/>
                </a:solidFill>
              </a:rPr>
              <a:t>3.  </a:t>
            </a:r>
            <a:r>
              <a:rPr sz="1400" b="1">
                <a:solidFill>
                  <a:srgbClr val="333333"/>
                </a:solidFill>
              </a:rPr>
              <a:t>Automated MPE Calculation: </a:t>
            </a:r>
            <a:r>
              <a:rPr sz="1300" b="0">
                <a:solidFill>
                  <a:srgbClr val="333333"/>
                </a:solidFill>
              </a:rPr>
              <a:t>The system computes Maximum Permissible Errors based on the load, verification scale interval (e), and accuracy class of the instrument.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333333"/>
                </a:solidFill>
              </a:rPr>
              <a:t>4.  </a:t>
            </a:r>
            <a:r>
              <a:rPr sz="1400" b="1">
                <a:solidFill>
                  <a:srgbClr val="333333"/>
                </a:solidFill>
              </a:rPr>
              <a:t>OIML R-76 Test Modules: </a:t>
            </a:r>
            <a:r>
              <a:rPr sz="1300" b="0">
                <a:solidFill>
                  <a:srgbClr val="333333"/>
                </a:solidFill>
              </a:rPr>
              <a:t>Dedicated tabs for Repeatability, Eccentricity, Weighing Performance, and Tare tests with real-time Pass/Fail compliance checks.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333333"/>
                </a:solidFill>
              </a:rPr>
              <a:t>5.  </a:t>
            </a:r>
            <a:r>
              <a:rPr sz="1400" b="1">
                <a:solidFill>
                  <a:srgbClr val="333333"/>
                </a:solidFill>
              </a:rPr>
              <a:t>Report Generation: </a:t>
            </a:r>
            <a:r>
              <a:rPr sz="1300" b="0">
                <a:solidFill>
                  <a:srgbClr val="333333"/>
                </a:solidFill>
              </a:rPr>
              <a:t>Produces standardized, print-ready test reports in PDF format with all instrument and laboratory details auto-populated.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333333"/>
                </a:solidFill>
              </a:rPr>
              <a:t>6.  </a:t>
            </a:r>
            <a:r>
              <a:rPr sz="1400" b="1">
                <a:solidFill>
                  <a:srgbClr val="333333"/>
                </a:solidFill>
              </a:rPr>
              <a:t>Report Repository: </a:t>
            </a:r>
            <a:r>
              <a:rPr sz="1300" b="0">
                <a:solidFill>
                  <a:srgbClr val="333333"/>
                </a:solidFill>
              </a:rPr>
              <a:t>All completed reports are stored digitally with instrument-wise search and retrieval, maintaining a full test history.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6095847" cy="137160"/>
          </a:xfrm>
          <a:prstGeom prst="rect">
            <a:avLst/>
          </a:prstGeom>
          <a:solidFill>
            <a:srgbClr val="E8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20840"/>
            <a:ext cx="6095847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8712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Next.js 16 (React) with TypeScript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Tailwind CSS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SQLite Database (Prisma ORM)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Next.js API Routes (Serverless)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html2pdf.js / Browser Print API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Vercel or any Node.js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</a:rPr>
              <a:t>INPUTS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</a:t>
            </a:r>
            <a:r>
              <a:rPr sz="1300" b="1">
                <a:solidFill>
                  <a:srgbClr val="333333"/>
                </a:solidFill>
              </a:rPr>
              <a:t>Instrument specification sheet: </a:t>
            </a:r>
            <a:r>
              <a:rPr sz="1300">
                <a:solidFill>
                  <a:srgbClr val="333333"/>
                </a:solidFill>
              </a:rPr>
              <a:t>capacity, class, scale intervals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</a:t>
            </a:r>
            <a:r>
              <a:rPr sz="1300" b="1">
                <a:solidFill>
                  <a:srgbClr val="333333"/>
                </a:solidFill>
              </a:rPr>
              <a:t>Laboratory conditions: </a:t>
            </a:r>
            <a:r>
              <a:rPr sz="1300">
                <a:solidFill>
                  <a:srgbClr val="333333"/>
                </a:solidFill>
              </a:rPr>
              <a:t>temperature, humidity, barometric pressure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</a:t>
            </a:r>
            <a:r>
              <a:rPr sz="1300" b="1">
                <a:solidFill>
                  <a:srgbClr val="333333"/>
                </a:solidFill>
              </a:rPr>
              <a:t>Calibrated test weights </a:t>
            </a:r>
            <a:r>
              <a:rPr sz="1300">
                <a:solidFill>
                  <a:srgbClr val="333333"/>
                </a:solidFill>
              </a:rPr>
              <a:t>for each load point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</a:t>
            </a:r>
            <a:r>
              <a:rPr sz="1300" b="1">
                <a:solidFill>
                  <a:srgbClr val="333333"/>
                </a:solidFill>
              </a:rPr>
              <a:t>OIML R-76 reference tables </a:t>
            </a:r>
            <a:r>
              <a:rPr sz="1300">
                <a:solidFill>
                  <a:srgbClr val="333333"/>
                </a:solidFill>
              </a:rPr>
              <a:t>for MPE thresholds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3A5C"/>
                </a:solidFill>
              </a:rPr>
              <a:t>MANUAL vs. AUTOMATED REPORT GENERATION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4630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Process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Our Application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Spreadsheets, copy-paste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Structured digital forms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Calculations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formula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MPE computation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Visual comparison by tester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Real-time Pass/Fail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Report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Inconsistent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Standardized PDF output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Scattered files on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Searchable database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720840"/>
            <a:ext cx="6095847" cy="137160"/>
          </a:xfrm>
          <a:prstGeom prst="rect">
            <a:avLst/>
          </a:prstGeom>
          <a:solidFill>
            <a:srgbClr val="E8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6720840"/>
            <a:ext cx="6095847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8712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MODEL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103120" cy="18288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Register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Enter manufacturer, model, serial number, accuracy class, scale intervals (e, d), Min/Max capacity.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188720"/>
            <a:ext cx="2103120" cy="18288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280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Configure Test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965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Select instrument, assign tester, log ambient temperature, humidity, and barometric pressure.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2103120" cy="18288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280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Record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965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Input load and indication readings for Repeatability, Eccentricity, Weighing, and Tare tests.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188720"/>
            <a:ext cx="2103120" cy="18288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280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Auto-Calculate &amp;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965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System computes error, determines MPE from OIML R-76 tables, and flags each reading Pass or Fail.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188720"/>
            <a:ext cx="2103120" cy="18288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280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Generate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1965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Mark report complete; system aggregates results, determines overall compliance, and outputs a standardized PDF.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</a:rPr>
              <a:t>CORE CALCULATION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Error = Indication - Applied Load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MPE determined by load range and accuracy class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Class III: 0.5e (0-500e), 1.0e (500-2000e), 1.5e (&gt;2000e)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Class II: 0.5e (0-5000e), 1.0e (5000-20000e), 1.5e (&gt;20000e)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Result = Pass if |Error| &lt;= MPE, else 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</a:rPr>
              <a:t>KEY SOFTWARE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Instrument Registry (CRUD with specifications)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Test Session Manager (environmental conditions)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Observation Entry per OIML R-76 test type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MPE Calculator Engine (oimlHelpers.ts)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PDF Report Builder with auto-populated fields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</a:rPr>
              <a:t>•  Dashboard for monitoring and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6095847" cy="137160"/>
          </a:xfrm>
          <a:prstGeom prst="rect">
            <a:avLst/>
          </a:prstGeom>
          <a:solidFill>
            <a:srgbClr val="E8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5847" y="6720840"/>
            <a:ext cx="6095847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8712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FEASIBILITY, VIABILITY, IMPACT AND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</a:rPr>
              <a:t>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Built with well-established open-source tools (Next.js, Prisma, SQLite) that require no licensing cost.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SQLite runs embedded, so no separate database server is needed for deployment.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OIML R-76 MPE tables are well-defined and straightforward to implement in code.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Can be deployed on any machine with Node.js installed, including air-gapped lab networks.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</a:rPr>
              <a:t>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Zero infrastructure cost for small labs; scales to cloud hosting if needed.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Reduces report generation time from hours to minutes.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Eliminates duplicate data entry across multiple spreadsheet templates.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Architecture supports future OIML recommendation revisions without rewriting core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5303520" cy="22860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4047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3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Ensures uniformity and consistency across all designated testing laboratories.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Removes manual calculation errors that can delay model approvals.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Creates a searchable digital archive of all test reports for auditing.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Aligns India's NAWI testing workflow with international best practices.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749039"/>
            <a:ext cx="5303520" cy="2286000"/>
          </a:xfrm>
          <a:prstGeom prst="rect">
            <a:avLst/>
          </a:prstGeom>
          <a:noFill/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7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</a:rPr>
              <a:t>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3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Lab technicians spend less time on paperwork, more on actual testing.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Standardized output format simplifies review by approval authorities.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Instrument-wise test history enables trend analysis and quality tracking.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•  Dashboard gives lab managers real-time visibility into report pipeline status.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6095847" cy="137160"/>
          </a:xfrm>
          <a:prstGeom prst="rect">
            <a:avLst/>
          </a:prstGeom>
          <a:solidFill>
            <a:srgbClr val="E8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47" y="6720840"/>
            <a:ext cx="6095847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8712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REFERENCES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</a:rPr>
              <a:t>PRIMARY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1.  OIML R 76-1 (Edition 2006) "Non-automatic weighing instruments, Part 1: Metrological and technical requirements - Tests"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2.  OIML R 76-2 (Edition 2007) "Non-automatic weighing instruments, Part 2: Test report format"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3.  The Legal Metrology Act, 2009 (Act No. 1 of 2010), Government of India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4.  The Legal Metrology (General) Rules, 2011, Ministry of Consumer Affairs, Food and Public Distribution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5.  IS 9281:2023 (Bureau of Indian Standards) - specification for Electronic Weighing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A5C"/>
                </a:solidFill>
              </a:rPr>
              <a:t>TECHNICAL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1.  consumeraffairs.gov.in - Department of Consumer Affairs, Legal Metrology Division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2.  oiml.org - International Organization of Legal Metrology, publications and recommendations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3.  Next.js Documentation (nextjs.org/docs) - App Router, API Routes, Server Components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4.  Prisma ORM Documentation (prisma.io/docs) - SQLite integration, schema design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5.  WELMEC Guide 2 (2019) - Directive 2014/31/EU on Non-automatic Weighing Instruments (EU context for OIML R 76)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6095847" cy="137160"/>
          </a:xfrm>
          <a:prstGeom prst="rect">
            <a:avLst/>
          </a:prstGeom>
          <a:solidFill>
            <a:srgbClr val="E87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20840"/>
            <a:ext cx="6095847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8712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